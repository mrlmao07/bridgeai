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801600" cy="9601200" type="A3"/>
  <p:notesSz cx="12801600" cy="9601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72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976372"/>
            <a:ext cx="10881360" cy="2016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5376672"/>
            <a:ext cx="8961120" cy="240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080" y="2208276"/>
            <a:ext cx="11521440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52544" y="8929116"/>
            <a:ext cx="4096512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7152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dgs.un.org/goa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725" marR="3598545">
              <a:lnSpc>
                <a:spcPct val="100000"/>
              </a:lnSpc>
              <a:spcBef>
                <a:spcPts val="200"/>
              </a:spcBef>
            </a:pPr>
            <a:r>
              <a:rPr dirty="0"/>
              <a:t>PROJECT</a:t>
            </a:r>
            <a:r>
              <a:rPr spc="-135" dirty="0"/>
              <a:t> </a:t>
            </a:r>
            <a:r>
              <a:rPr spc="-10" dirty="0"/>
              <a:t>NAME: </a:t>
            </a:r>
            <a:r>
              <a:rPr dirty="0"/>
              <a:t>TEAM</a:t>
            </a:r>
            <a:r>
              <a:rPr spc="-65" dirty="0"/>
              <a:t> </a:t>
            </a:r>
            <a:r>
              <a:rPr spc="-10" dirty="0"/>
              <a:t>MEMBERS:</a:t>
            </a:r>
          </a:p>
        </p:txBody>
      </p:sp>
      <p:sp>
        <p:nvSpPr>
          <p:cNvPr id="3" name="object 3"/>
          <p:cNvSpPr/>
          <p:nvPr/>
        </p:nvSpPr>
        <p:spPr>
          <a:xfrm>
            <a:off x="373412" y="2414462"/>
            <a:ext cx="11819255" cy="529590"/>
          </a:xfrm>
          <a:custGeom>
            <a:avLst/>
            <a:gdLst/>
            <a:ahLst/>
            <a:cxnLst/>
            <a:rect l="l" t="t" r="r" b="b"/>
            <a:pathLst>
              <a:path w="11819255" h="529589">
                <a:moveTo>
                  <a:pt x="0" y="12"/>
                </a:moveTo>
                <a:lnTo>
                  <a:pt x="5892899" y="12"/>
                </a:lnTo>
                <a:lnTo>
                  <a:pt x="5892899" y="520512"/>
                </a:lnTo>
                <a:lnTo>
                  <a:pt x="0" y="520512"/>
                </a:lnTo>
                <a:lnTo>
                  <a:pt x="0" y="12"/>
                </a:lnTo>
                <a:close/>
              </a:path>
              <a:path w="11819255" h="529589">
                <a:moveTo>
                  <a:pt x="5925762" y="0"/>
                </a:moveTo>
                <a:lnTo>
                  <a:pt x="11818662" y="0"/>
                </a:lnTo>
                <a:lnTo>
                  <a:pt x="11818662" y="529499"/>
                </a:lnTo>
                <a:lnTo>
                  <a:pt x="5925762" y="529499"/>
                </a:lnTo>
                <a:lnTo>
                  <a:pt x="5925762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0724" y="3053850"/>
            <a:ext cx="5895975" cy="3094990"/>
          </a:xfrm>
          <a:custGeom>
            <a:avLst/>
            <a:gdLst/>
            <a:ahLst/>
            <a:cxnLst/>
            <a:rect l="l" t="t" r="r" b="b"/>
            <a:pathLst>
              <a:path w="5895975" h="3094990">
                <a:moveTo>
                  <a:pt x="2699" y="0"/>
                </a:moveTo>
                <a:lnTo>
                  <a:pt x="5895599" y="0"/>
                </a:lnTo>
                <a:lnTo>
                  <a:pt x="5895599" y="2550899"/>
                </a:lnTo>
                <a:lnTo>
                  <a:pt x="2699" y="2550899"/>
                </a:lnTo>
                <a:lnTo>
                  <a:pt x="2699" y="0"/>
                </a:lnTo>
                <a:close/>
              </a:path>
              <a:path w="5895975" h="3094990">
                <a:moveTo>
                  <a:pt x="0" y="2574367"/>
                </a:moveTo>
                <a:lnTo>
                  <a:pt x="3896399" y="2574367"/>
                </a:lnTo>
                <a:lnTo>
                  <a:pt x="3896399" y="3094867"/>
                </a:lnTo>
                <a:lnTo>
                  <a:pt x="0" y="3094867"/>
                </a:lnTo>
                <a:lnTo>
                  <a:pt x="0" y="2574367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3749" y="5641425"/>
            <a:ext cx="273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3.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0125" y="5623717"/>
            <a:ext cx="3896995" cy="529590"/>
          </a:xfrm>
          <a:custGeom>
            <a:avLst/>
            <a:gdLst/>
            <a:ahLst/>
            <a:cxnLst/>
            <a:rect l="l" t="t" r="r" b="b"/>
            <a:pathLst>
              <a:path w="3896995" h="529589">
                <a:moveTo>
                  <a:pt x="0" y="0"/>
                </a:moveTo>
                <a:lnTo>
                  <a:pt x="3896399" y="0"/>
                </a:lnTo>
                <a:lnTo>
                  <a:pt x="3896399" y="529499"/>
                </a:lnTo>
                <a:lnTo>
                  <a:pt x="0" y="529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3150" y="5636926"/>
            <a:ext cx="10363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4.</a:t>
            </a:r>
            <a:r>
              <a:rPr sz="2400" spc="-10" dirty="0">
                <a:latin typeface="Calibri"/>
                <a:cs typeface="Calibri"/>
              </a:rPr>
              <a:t> PRICE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3125" y="6259800"/>
            <a:ext cx="3896995" cy="3280385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1 - 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Affiliate links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eMAG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Altex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Flanco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you earn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2–5%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every purchase made through your app. Zero friction to implement.</a:t>
            </a:r>
          </a:p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2 - 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Freemium model — basic recommendations free, advanced features (price history, compatibility deep-dives, multi-device comparison) behind a ~€3–5/month subscriptionB2B deals — sell the recommendation engine to electronics retailers so their websites use your AI assistant</a:t>
            </a:r>
          </a:p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Wingdings" panose="05000000000000000000" pitchFamily="2" charset="2"/>
              <a:buChar char="Ø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3 - 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Sponsored placements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brands pay to be "featured" when their product is genuinely competitive (must stay transparent)Data insights — anonymized trend data sold to manufacturers ("students in Romania are prioritizing battery life over GPU")</a:t>
            </a:r>
          </a:p>
        </p:txBody>
      </p:sp>
      <p:sp>
        <p:nvSpPr>
          <p:cNvPr id="9" name="object 9"/>
          <p:cNvSpPr/>
          <p:nvPr/>
        </p:nvSpPr>
        <p:spPr>
          <a:xfrm>
            <a:off x="8229524" y="5628217"/>
            <a:ext cx="3896995" cy="520700"/>
          </a:xfrm>
          <a:custGeom>
            <a:avLst/>
            <a:gdLst/>
            <a:ahLst/>
            <a:cxnLst/>
            <a:rect l="l" t="t" r="r" b="b"/>
            <a:pathLst>
              <a:path w="3896995" h="520700">
                <a:moveTo>
                  <a:pt x="0" y="0"/>
                </a:moveTo>
                <a:lnTo>
                  <a:pt x="3896399" y="0"/>
                </a:lnTo>
                <a:lnTo>
                  <a:pt x="3896399" y="520499"/>
                </a:lnTo>
                <a:lnTo>
                  <a:pt x="0" y="520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02549" y="5641425"/>
            <a:ext cx="190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5.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5249" y="6827605"/>
            <a:ext cx="2317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95524" y="6259924"/>
            <a:ext cx="3896995" cy="3113405"/>
          </a:xfrm>
          <a:custGeom>
            <a:avLst/>
            <a:gdLst/>
            <a:ahLst/>
            <a:cxnLst/>
            <a:rect l="l" t="t" r="r" b="b"/>
            <a:pathLst>
              <a:path w="3896995" h="3113404">
                <a:moveTo>
                  <a:pt x="3896399" y="3112799"/>
                </a:moveTo>
                <a:lnTo>
                  <a:pt x="0" y="3112799"/>
                </a:lnTo>
                <a:lnTo>
                  <a:pt x="0" y="0"/>
                </a:lnTo>
                <a:lnTo>
                  <a:pt x="3896399" y="0"/>
                </a:lnTo>
                <a:lnTo>
                  <a:pt x="3896399" y="3112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bject 13"/>
          <p:cNvSpPr txBox="1"/>
          <p:nvPr/>
        </p:nvSpPr>
        <p:spPr>
          <a:xfrm>
            <a:off x="8295524" y="6259924"/>
            <a:ext cx="3896995" cy="3008516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create social media accounts that will promote our product using relatable and informative short-form videos. This is a great and cost-effective approach to sponsoring our app.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7024" y="284926"/>
            <a:ext cx="5857240" cy="1225977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hardware consultant that simplifies tech shopping by translating complex specs into personalized product recommendations </a:t>
            </a:r>
            <a:r>
              <a:rPr lang="en-US" dirty="0"/>
              <a:t>and interactive comparisons.</a:t>
            </a:r>
            <a:endParaRPr lang="en-US" spc="-1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724" y="1611287"/>
            <a:ext cx="11821795" cy="684530"/>
          </a:xfrm>
          <a:custGeom>
            <a:avLst/>
            <a:gdLst/>
            <a:ahLst/>
            <a:cxnLst/>
            <a:rect l="l" t="t" r="r" b="b"/>
            <a:pathLst>
              <a:path w="11821795" h="684530">
                <a:moveTo>
                  <a:pt x="0" y="0"/>
                </a:moveTo>
                <a:lnTo>
                  <a:pt x="11821199" y="0"/>
                </a:lnTo>
                <a:lnTo>
                  <a:pt x="11821199" y="684299"/>
                </a:lnTo>
                <a:lnTo>
                  <a:pt x="0" y="6842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2858" y="1592132"/>
            <a:ext cx="11090111" cy="1279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mbria"/>
                <a:cs typeface="Cambria"/>
              </a:rPr>
              <a:t>Hardcore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60" dirty="0">
                <a:solidFill>
                  <a:srgbClr val="F13662"/>
                </a:solidFill>
                <a:latin typeface="Arial MT"/>
                <a:cs typeface="Cambria"/>
              </a:rPr>
              <a:t>Entrepreneur</a:t>
            </a:r>
            <a:r>
              <a:rPr sz="4000" spc="-130" dirty="0">
                <a:solidFill>
                  <a:srgbClr val="F13662"/>
                </a:solidFill>
                <a:latin typeface="Arial MT"/>
                <a:cs typeface="Arial MT"/>
              </a:rPr>
              <a:t> </a:t>
            </a:r>
            <a:r>
              <a:rPr sz="4000" b="1">
                <a:latin typeface="Cambria"/>
                <a:cs typeface="Cambria"/>
              </a:rPr>
              <a:t>hackathon</a:t>
            </a:r>
            <a:r>
              <a:rPr sz="4000" b="1" spc="-60">
                <a:latin typeface="Cambria"/>
                <a:cs typeface="Cambria"/>
              </a:rPr>
              <a:t> </a:t>
            </a:r>
            <a:r>
              <a:rPr lang="en-US" sz="4000" b="1" spc="-25" dirty="0">
                <a:solidFill>
                  <a:srgbClr val="F13662"/>
                </a:solidFill>
                <a:latin typeface="Arial MT"/>
                <a:cs typeface="Cambria"/>
              </a:rPr>
              <a:t>6</a:t>
            </a:r>
            <a:r>
              <a:rPr lang="en-US" sz="4000" b="1" spc="-25">
                <a:solidFill>
                  <a:srgbClr val="F13662"/>
                </a:solidFill>
                <a:latin typeface="Arial MT"/>
                <a:cs typeface="Cambria"/>
              </a:rPr>
              <a:t>.0</a:t>
            </a:r>
            <a:endParaRPr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  <a:tabLst>
                <a:tab pos="5937885" algn="l"/>
              </a:tabLst>
            </a:pPr>
            <a:r>
              <a:rPr sz="2400" dirty="0">
                <a:latin typeface="Calibri"/>
                <a:cs typeface="Calibri"/>
              </a:rPr>
              <a:t>1.PRODUCT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</a:t>
            </a:r>
            <a:r>
              <a:rPr sz="2400" dirty="0">
                <a:latin typeface="Calibri"/>
                <a:cs typeface="Calibri"/>
              </a:rPr>
              <a:t>	2.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35" dirty="0">
                <a:latin typeface="Calibri"/>
                <a:cs typeface="Calibri"/>
              </a:rPr>
              <a:t> TARGET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 &amp; </a:t>
            </a:r>
            <a:r>
              <a:rPr lang="en-US" sz="2400" spc="-10" dirty="0">
                <a:latin typeface="Calibri"/>
                <a:cs typeface="Calibri"/>
                <a:hlinkClick r:id="rId2"/>
              </a:rPr>
              <a:t>SDGs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28699" y="2476036"/>
            <a:ext cx="6354445" cy="406400"/>
            <a:chOff x="5728699" y="2476036"/>
            <a:chExt cx="6354445" cy="406400"/>
          </a:xfrm>
        </p:grpSpPr>
        <p:sp>
          <p:nvSpPr>
            <p:cNvPr id="18" name="object 18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73949" y="3050150"/>
            <a:ext cx="8430895" cy="3041650"/>
            <a:chOff x="3773949" y="3050150"/>
            <a:chExt cx="8430895" cy="3041650"/>
          </a:xfrm>
        </p:grpSpPr>
        <p:sp>
          <p:nvSpPr>
            <p:cNvPr id="23" name="object 23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99162" y="3062850"/>
              <a:ext cx="5893435" cy="2551430"/>
            </a:xfrm>
            <a:custGeom>
              <a:avLst/>
              <a:gdLst/>
              <a:ahLst/>
              <a:cxnLst/>
              <a:rect l="l" t="t" r="r" b="b"/>
              <a:pathLst>
                <a:path w="5893434" h="2551429">
                  <a:moveTo>
                    <a:pt x="0" y="0"/>
                  </a:moveTo>
                  <a:lnTo>
                    <a:pt x="5892899" y="0"/>
                  </a:lnTo>
                  <a:lnTo>
                    <a:pt x="5892899" y="2550899"/>
                  </a:lnTo>
                  <a:lnTo>
                    <a:pt x="0" y="25508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0724" y="6259924"/>
            <a:ext cx="3896995" cy="2900794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Demystify Technical Specifications</a:t>
            </a:r>
          </a:p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Intelligent, Context-Aware Recommendations</a:t>
            </a:r>
          </a:p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Unbiased Side-by-Side Comparisons</a:t>
            </a:r>
          </a:p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 the Discovery Journey</a:t>
            </a:r>
          </a:p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"Time-to-Purchase"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3CF70F-B595-C3F5-1EE3-80B1801CD8DC}"/>
              </a:ext>
            </a:extLst>
          </p:cNvPr>
          <p:cNvSpPr txBox="1"/>
          <p:nvPr/>
        </p:nvSpPr>
        <p:spPr>
          <a:xfrm>
            <a:off x="2666999" y="261402"/>
            <a:ext cx="3599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BridgeAI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Popescu Miruna-Alexandra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Gae Octavian-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Ionu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AE96DA-4C9F-4F18-7301-E49B6F5284D6}"/>
              </a:ext>
            </a:extLst>
          </p:cNvPr>
          <p:cNvSpPr txBox="1"/>
          <p:nvPr/>
        </p:nvSpPr>
        <p:spPr>
          <a:xfrm>
            <a:off x="466110" y="3129502"/>
            <a:ext cx="57006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Language Barrier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Tedious Search Process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Paralysis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inexperienced people may encounter during their quest to buy new tech products.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5FE52B-950F-8B85-A0BE-9CEC75614C4E}"/>
              </a:ext>
            </a:extLst>
          </p:cNvPr>
          <p:cNvSpPr txBox="1"/>
          <p:nvPr/>
        </p:nvSpPr>
        <p:spPr>
          <a:xfrm>
            <a:off x="6370009" y="3124835"/>
            <a:ext cx="57006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Teens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Elderly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Inexperienced people</a:t>
            </a:r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279</Words>
  <Application>Microsoft Office PowerPoint</Application>
  <PresentationFormat>A3 Paper (297x420 mm)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 MT</vt:lpstr>
      <vt:lpstr>Calibri</vt:lpstr>
      <vt:lpstr>Cambria</vt:lpstr>
      <vt:lpstr>Times New Roman</vt:lpstr>
      <vt:lpstr>Wingdings</vt:lpstr>
      <vt:lpstr>Office Theme</vt:lpstr>
      <vt:lpstr>PROJECT NAME: TEAM MEMBERS: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V.I.S.Canvas.pptx</dc:title>
  <cp:lastModifiedBy>Octavian Gae</cp:lastModifiedBy>
  <cp:revision>12</cp:revision>
  <dcterms:created xsi:type="dcterms:W3CDTF">2025-02-07T13:41:18Z</dcterms:created>
  <dcterms:modified xsi:type="dcterms:W3CDTF">2026-04-30T22:04:54Z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2025-02-07T00:00:00Z</vt:filetime>
  </property>
</Properties>
</file>